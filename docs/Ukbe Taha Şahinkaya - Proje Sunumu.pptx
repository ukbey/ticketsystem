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53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17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120640" cy="512064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-914400"/>
            <a:ext cx="3108960" cy="3108960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46304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987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SUNUMU · 32bit Toyota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Service Management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Yönetim Sistemi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taleplerini SLA kurallarıyla yöneten, full-stack ve container tabanlı kurumsal destek platformu.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617720"/>
            <a:ext cx="6035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Ukbe Taha Şahinkaya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 · 3. Sınıf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Hakkımda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703320" cy="4617720"/>
          </a:xfrm>
          <a:prstGeom prst="roundRect">
            <a:avLst>
              <a:gd name="adj" fmla="val 2469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828800" y="1874520"/>
            <a:ext cx="1234440" cy="123444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2176272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Ukbe Taha Şahinkaya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Sınıf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97280" y="4617720"/>
            <a:ext cx="269748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777240" y="4754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3.22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777240" y="5532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Ortalaması  /  4.00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554480"/>
            <a:ext cx="690372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937760" y="1810512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929384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81051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Yabancı Diller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8348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494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İleri seviye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823960" y="2606040"/>
            <a:ext cx="2377440" cy="1554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6"/>
          <p:cNvSpPr/>
          <p:nvPr/>
        </p:nvSpPr>
        <p:spPr>
          <a:xfrm>
            <a:off x="8823960" y="2606040"/>
            <a:ext cx="2187245" cy="1554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498348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Kırgızca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9494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Temel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823960" y="2990088"/>
            <a:ext cx="2377440" cy="1554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0"/>
          <p:cNvSpPr/>
          <p:nvPr/>
        </p:nvSpPr>
        <p:spPr>
          <a:xfrm>
            <a:off x="8823960" y="2990088"/>
            <a:ext cx="713232" cy="1554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1"/>
          <p:cNvSpPr/>
          <p:nvPr/>
        </p:nvSpPr>
        <p:spPr>
          <a:xfrm>
            <a:off x="498348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Rusça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949440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Başlangıç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823960" y="3374136"/>
            <a:ext cx="2377440" cy="1554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4"/>
          <p:cNvSpPr/>
          <p:nvPr/>
        </p:nvSpPr>
        <p:spPr>
          <a:xfrm>
            <a:off x="8823960" y="3374136"/>
            <a:ext cx="427939" cy="1554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4663440" y="3840480"/>
            <a:ext cx="6903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30" name="Shape 26"/>
          <p:cNvSpPr/>
          <p:nvPr/>
        </p:nvSpPr>
        <p:spPr>
          <a:xfrm>
            <a:off x="4937760" y="4096512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4215384"/>
            <a:ext cx="265176" cy="26517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77840" y="409651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Mesleki İlgi Alanlarım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5029200" y="475488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29"/>
          <p:cNvSpPr/>
          <p:nvPr/>
        </p:nvSpPr>
        <p:spPr>
          <a:xfrm>
            <a:off x="5303520" y="471278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&amp; veri yapıları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161020" y="475488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1"/>
          <p:cNvSpPr/>
          <p:nvPr/>
        </p:nvSpPr>
        <p:spPr>
          <a:xfrm>
            <a:off x="8435340" y="471278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Matematiksel modelleme &amp; optimizasyon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029200" y="525780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3"/>
          <p:cNvSpPr/>
          <p:nvPr/>
        </p:nvSpPr>
        <p:spPr>
          <a:xfrm>
            <a:off x="5303520" y="521570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 dağıtık sistemler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8161020" y="525780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5"/>
          <p:cNvSpPr/>
          <p:nvPr/>
        </p:nvSpPr>
        <p:spPr>
          <a:xfrm>
            <a:off x="8435340" y="521570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çözme &amp; analitik düşünme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5029200" y="576072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37"/>
          <p:cNvSpPr/>
          <p:nvPr/>
        </p:nvSpPr>
        <p:spPr>
          <a:xfrm>
            <a:off x="5303520" y="571862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 geliştirme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8161020" y="576072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39"/>
          <p:cNvSpPr/>
          <p:nvPr/>
        </p:nvSpPr>
        <p:spPr>
          <a:xfrm>
            <a:off x="8435340" y="5718623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simülasyon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İşe Yarıyor?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teknik sorun ve taleplerini kayıt altına alabildiği, destek ekiplerinin bunları Hizmet Seviyesi Anlaşmaları (SLA) çerçevesinde yönettiği ve çözüm sürecinin şeffaf biçimde izlenebildiği merkezi bir destek platformu kurmak. Sistem; müşteri memnuniyetini artırmayı, destek performansını ölçülebilir kılmayı ve iş süreçlerini otomatize ederek insan hatasını azaltmayı hedefler.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20954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33329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317296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Portalı (Web &amp; Mobil)  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52728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oluşturma, ürün/öncelik seçimi, dosya yükleme ve durum takibi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320954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3329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317296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(Agent) Paneli  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67728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Havuzdan iş alma (claim), müşteriyle mesajlaşma ve çözüm üretme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" y="426110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43845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2728" y="422452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Dashboard'u  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52728" y="46634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ihlalleri, personel performansı ve sistem durumu grafiklerle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426110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38454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67728" y="422452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Şeffaf Takip  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967728" y="46634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Seviyesi Anlaşmalarıyla yönetim ve çözüm sürecinin izlenmesi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94360" y="531266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54361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52728" y="527608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Otomasyonu (jBPM)  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252728" y="57150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süreçlerini otomatize ederek manuel adımları ve insan hatasını azaltma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309360" y="531266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43610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67728" y="527608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Rollü Erişim  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967728" y="57150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agent · lead_agent · admin · manager rolleriyle güvenli erişim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İstenen Teknoloji Yığını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86968" y="1901952"/>
            <a:ext cx="566928" cy="566928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391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25603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" y="292608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· katmanlı REST API · JPA + Flyway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62763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703320" y="1901952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0391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5603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292608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· React Router · Context API · i18n (TR/EN)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27064" y="162763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6519672" y="1901952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0391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25603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19672" y="292608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 · web ile fonksiyonel parite · REST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43416" y="162763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9336024" y="1901952"/>
            <a:ext cx="566928" cy="566928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20391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25603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36024" y="292608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normalize şema · Spring Data JPA · Flyway migration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405079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886968" y="4325112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44622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86968" y="4983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&amp; Güvenlik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86968" y="53492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+ OpenLDAP · OAuth2/JWT · 2FA (TOTP) · Remember-Me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10712" y="405079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3703320" y="4325112"/>
            <a:ext cx="566928" cy="566928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446227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03320" y="4983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Akışı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703320" y="53492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jBPM / KIE Server · BPMN süreç modeli · ticket statü makinesi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27064" y="405079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6519672" y="4325112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46227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19672" y="4983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Loglama &amp; İzleme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519672" y="53492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→ Kafka → Logstash → OpenSearch · OpenTelemetry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43416" y="4050792"/>
            <a:ext cx="252374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9336024" y="4325112"/>
            <a:ext cx="566928" cy="566928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3184" y="4462272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36024" y="4983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Konteynerleştirme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336024" y="53492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imajları · Docker Compose orkestrasyon · ayrık servisler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Ekstra Teknolojiler &amp; Mühendislik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32104" y="186537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979676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" y="2395728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rate-limit (Bucket4j) durumu + cache/queue altyapısı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401568" y="1627632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639312" y="186537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197967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24528" y="18470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Servisi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39312" y="2395728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ile AI ticket özeti (ayrı Spring Boot servisi, TR/EN)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208776" y="1627632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6446520" y="186537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979676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31736" y="18470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395728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 Server çağrılarında circuit breaker ile zarif bozulma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9015984" y="1627632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9253728" y="186537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197967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38944" y="18470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53728" y="2395728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+ Kustomize · HPA · cert-manager · SealedSecrets (prod)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94360" y="3310128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832104" y="354787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366217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529584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+ JaCoCo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32104" y="4078224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kod analizi ve kod kapsama raporlaması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3401568" y="3310128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3639312" y="354787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3612" y="366217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24528" y="3529584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39312" y="4078224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dış erişim noktası: reverse proxy ve TLS sonlandırma</a:t>
            </a:r>
            <a:endParaRPr lang="en-US" sz="1030" dirty="0"/>
          </a:p>
        </p:txBody>
      </p:sp>
      <p:sp>
        <p:nvSpPr>
          <p:cNvPr id="34" name="Shape 26"/>
          <p:cNvSpPr/>
          <p:nvPr/>
        </p:nvSpPr>
        <p:spPr>
          <a:xfrm>
            <a:off x="6208776" y="3310128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6446520" y="354787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0820" y="366217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31736" y="3529584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46520" y="4078224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bildirim ve ticket sohbeti (web + mobil)</a:t>
            </a:r>
            <a:endParaRPr lang="en-US" sz="1030" dirty="0"/>
          </a:p>
        </p:txBody>
      </p:sp>
      <p:sp>
        <p:nvSpPr>
          <p:cNvPr id="39" name="Shape 30"/>
          <p:cNvSpPr/>
          <p:nvPr/>
        </p:nvSpPr>
        <p:spPr>
          <a:xfrm>
            <a:off x="9015984" y="3310128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9253728" y="354787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8028" y="3662172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38944" y="3529584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Cache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253728" y="4078224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agregasyonları için 5 dk TTL bellek içi cache</a:t>
            </a:r>
            <a:endParaRPr lang="en-US" sz="1030" dirty="0"/>
          </a:p>
        </p:txBody>
      </p:sp>
      <p:sp>
        <p:nvSpPr>
          <p:cNvPr id="44" name="Shape 34"/>
          <p:cNvSpPr/>
          <p:nvPr/>
        </p:nvSpPr>
        <p:spPr>
          <a:xfrm>
            <a:off x="594360" y="4992624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5" name="Shape 35"/>
          <p:cNvSpPr/>
          <p:nvPr/>
        </p:nvSpPr>
        <p:spPr>
          <a:xfrm>
            <a:off x="832104" y="523036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404" y="5344668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417320" y="5212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Prepper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32104" y="5760720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metriklerini OpenSearch'e yazan metrik hattı</a:t>
            </a:r>
            <a:endParaRPr lang="en-US" sz="1030" dirty="0"/>
          </a:p>
        </p:txBody>
      </p:sp>
      <p:sp>
        <p:nvSpPr>
          <p:cNvPr id="49" name="Shape 38"/>
          <p:cNvSpPr/>
          <p:nvPr/>
        </p:nvSpPr>
        <p:spPr>
          <a:xfrm>
            <a:off x="3401568" y="4992624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0" name="Shape 39"/>
          <p:cNvSpPr/>
          <p:nvPr/>
        </p:nvSpPr>
        <p:spPr>
          <a:xfrm>
            <a:off x="3639312" y="523036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3612" y="5344668"/>
            <a:ext cx="228600" cy="2286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224528" y="5212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3639312" y="5760720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PostgreSQL/Redis ile entegrasyon testleri</a:t>
            </a:r>
            <a:endParaRPr lang="en-US" sz="1030" dirty="0"/>
          </a:p>
        </p:txBody>
      </p:sp>
      <p:sp>
        <p:nvSpPr>
          <p:cNvPr id="54" name="Shape 42"/>
          <p:cNvSpPr/>
          <p:nvPr/>
        </p:nvSpPr>
        <p:spPr>
          <a:xfrm>
            <a:off x="6208776" y="4992624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5" name="Shape 43"/>
          <p:cNvSpPr/>
          <p:nvPr/>
        </p:nvSpPr>
        <p:spPr>
          <a:xfrm>
            <a:off x="6446520" y="523036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0820" y="5344668"/>
            <a:ext cx="228600" cy="22860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031736" y="5212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Mailpit</a:t>
            </a:r>
            <a:endParaRPr lang="en-US" sz="1300" dirty="0"/>
          </a:p>
        </p:txBody>
      </p:sp>
      <p:sp>
        <p:nvSpPr>
          <p:cNvPr id="58" name="Text 45"/>
          <p:cNvSpPr/>
          <p:nvPr/>
        </p:nvSpPr>
        <p:spPr>
          <a:xfrm>
            <a:off x="6446520" y="5760720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Geliştirmede e-posta bildirimi simülasyonu</a:t>
            </a:r>
            <a:endParaRPr lang="en-US" sz="1030" dirty="0"/>
          </a:p>
        </p:txBody>
      </p:sp>
      <p:sp>
        <p:nvSpPr>
          <p:cNvPr id="59" name="Shape 46"/>
          <p:cNvSpPr/>
          <p:nvPr/>
        </p:nvSpPr>
        <p:spPr>
          <a:xfrm>
            <a:off x="9015984" y="4992624"/>
            <a:ext cx="2551176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0" name="Shape 47"/>
          <p:cNvSpPr/>
          <p:nvPr/>
        </p:nvSpPr>
        <p:spPr>
          <a:xfrm>
            <a:off x="9253728" y="523036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8028" y="5344668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9838944" y="5212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Admin API</a:t>
            </a:r>
            <a:endParaRPr lang="en-US" sz="1300" dirty="0"/>
          </a:p>
        </p:txBody>
      </p:sp>
      <p:sp>
        <p:nvSpPr>
          <p:cNvPr id="63" name="Text 49"/>
          <p:cNvSpPr/>
          <p:nvPr/>
        </p:nvSpPr>
        <p:spPr>
          <a:xfrm>
            <a:off x="9253728" y="5760720"/>
            <a:ext cx="2093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içinden kullanıcı/rol yönetimi + özel tema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Kazandığım Mühendislik Bakışı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928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7592" y="16916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tabanlı durum makinesi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07592" y="20939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statüsünün tek otoritesini jBPM sürecine devretmek; iş kurallarını koddan ayırmak.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6500" y="17465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18928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9732" y="16916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Olaya dayalı &amp; gerçek zamanlı mimari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999732" y="20939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WebSocket/STOMP, @Async olay dinleyicileri ve bildirim akışıyla anlık, gevşek bağlı iletişim kurmak.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33467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930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32918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gözlemlenebilirlik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07592" y="36941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metrik / log üçlüsünü OpenTelemetry ile tek hatta toplamak; delta temporality gibi inceliklerin önemi.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86500" y="33467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349300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9732" y="32918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sorgu performansı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999732" y="36941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cache, N+1 sorgu eliminasyonu ve scope-aware cache anahtarlarıyla dashboard'ları hızlandırmak.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49469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09320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07592" y="48920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Dayanıklılık desenleri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307592" y="52943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breaker, retry, rate-limit ve idempotent geçişlerle servisleri hataya dayanıklı kılmak.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86500" y="494690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93208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9732" y="4892040"/>
            <a:ext cx="450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servis entegrasyonu (LLM)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999732" y="5294376"/>
            <a:ext cx="4503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 bir Spring Boot servisini (Groq tabanlı AI özet) aynı şemada Flyway baseline ile yan yana çalıştırmak.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Çok Uğraştıran Alanlar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90472"/>
            <a:ext cx="10972800" cy="1078992"/>
          </a:xfrm>
          <a:prstGeom prst="roundRect">
            <a:avLst>
              <a:gd name="adj" fmla="val 593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91440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86968" y="1764792"/>
            <a:ext cx="530352" cy="53035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928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184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jBPM ve Backend senkronizasyonu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zorlayıcısı. Eski (stale) processInstanceId, KIE Server 404'leri, BPMN'in kapanan süreçleri ve süreç durumunu geçici H2 yerine kalıcı Postgres'e (jbpm-db) taşımak ciddi zaman aldı.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594360" y="2752344"/>
            <a:ext cx="10972800" cy="1078992"/>
          </a:xfrm>
          <a:prstGeom prst="roundRect">
            <a:avLst>
              <a:gd name="adj" fmla="val 593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94360" y="2752344"/>
            <a:ext cx="91440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886968" y="3026664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154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880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Rol-yetki modelini tasarlamak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32278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Rol-yetki eşlemelerini neye göre yapacağıma (hangi rol hangi işlemi yapabilmeli) tam karar verememek; agent_admin'i lead_agent ve admin'e bölerken ~40 yetkilendirme noktasını yeniden kurgulamak.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594360" y="4014216"/>
            <a:ext cx="10972800" cy="1078992"/>
          </a:xfrm>
          <a:prstGeom prst="roundRect">
            <a:avLst>
              <a:gd name="adj" fmla="val 593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594360" y="4014216"/>
            <a:ext cx="91440" cy="10789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4"/>
          <p:cNvSpPr/>
          <p:nvPr/>
        </p:nvSpPr>
        <p:spPr>
          <a:xfrm>
            <a:off x="886968" y="4288536"/>
            <a:ext cx="530352" cy="53035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4165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1422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&amp; Keycloak tema/locale handoff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00200" y="448970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dilli (TR/EN) yapıda Keycloak login teması ile uygulama arasında dil ve tema durumunu tutarlı taşımak: yönlendirme döngülerini kırmak, eksik locale anahtarlarını tamamlamak ve login ekranı tercihlerini kalıcılaştırmak.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594360" y="5276088"/>
            <a:ext cx="10972800" cy="1078992"/>
          </a:xfrm>
          <a:prstGeom prst="roundRect">
            <a:avLst>
              <a:gd name="adj" fmla="val 593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594360" y="5276088"/>
            <a:ext cx="9144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19"/>
          <p:cNvSpPr/>
          <p:nvPr/>
        </p:nvSpPr>
        <p:spPr>
          <a:xfrm>
            <a:off x="886968" y="5550408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67842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4041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duraklat/devam zaman hesabı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600200" y="57515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'Waiting for Customer' sürelerinin SLA sayacından doğru biçimde düşülmesi ve devam ederken birikmiş duraklama süresinin korunması.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Yaklaşık 4,5 ayda olgunlaşan bir kod tabanı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570482" y="2084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642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743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3310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commit'i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6140" y="1828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382262" y="2084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422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6140" y="2743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ay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497580" y="3310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Ocak – Haziran 2026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7194042" y="2084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202" y="22219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43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309360" y="3310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derlenebilir bileşen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29700" y="1828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10005822" y="2084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982" y="22219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29700" y="2743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38+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121140" y="3310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94360" y="4114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1570482" y="4370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7642" y="45079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5029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685800" y="5596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06140" y="4114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4382262" y="4370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9422" y="450799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06140" y="5029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%90+</a:t>
            </a:r>
            <a:endParaRPr lang="en-US" sz="3000" dirty="0"/>
          </a:p>
        </p:txBody>
      </p:sp>
      <p:sp>
        <p:nvSpPr>
          <p:cNvPr id="33" name="Text 25"/>
          <p:cNvSpPr/>
          <p:nvPr/>
        </p:nvSpPr>
        <p:spPr>
          <a:xfrm>
            <a:off x="3497580" y="5596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kapsamı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17920" y="4114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7194042" y="4370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202" y="4507992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17920" y="5029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dil</a:t>
            </a:r>
            <a:endParaRPr lang="en-US" sz="3000" dirty="0"/>
          </a:p>
        </p:txBody>
      </p:sp>
      <p:sp>
        <p:nvSpPr>
          <p:cNvPr id="38" name="Text 29"/>
          <p:cNvSpPr/>
          <p:nvPr/>
        </p:nvSpPr>
        <p:spPr>
          <a:xfrm>
            <a:off x="6309360" y="5596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+ İngilizce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29700" y="4114800"/>
            <a:ext cx="25374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10005822" y="4370832"/>
            <a:ext cx="585216" cy="585216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2982" y="450799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29700" y="502920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000" dirty="0"/>
          </a:p>
        </p:txBody>
      </p:sp>
      <p:sp>
        <p:nvSpPr>
          <p:cNvPr id="43" name="Text 33"/>
          <p:cNvSpPr/>
          <p:nvPr/>
        </p:nvSpPr>
        <p:spPr>
          <a:xfrm>
            <a:off x="9121140" y="5596128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servisi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İsterlere Tam Uyum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703320" cy="4434840"/>
          </a:xfrm>
          <a:prstGeom prst="roundRect">
            <a:avLst>
              <a:gd name="adj" fmla="val 2469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755648" y="2240280"/>
            <a:ext cx="1371600" cy="1371600"/>
          </a:xfrm>
          <a:prstGeom prst="ellipse">
            <a:avLst/>
          </a:prstGeom>
          <a:solidFill>
            <a:srgbClr val="134E4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5603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840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isterlerin tamamı uygulandı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Mimari, güvenlik, iş akışı, gözlemlenebilirlik ve test tarafı üretime yakın seviyede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60720" y="1691640"/>
            <a:ext cx="5806440" cy="4434840"/>
          </a:xfrm>
          <a:prstGeom prst="roundRect">
            <a:avLst>
              <a:gd name="adj" fmla="val 164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080760" y="190195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güçlü yönler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514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47104" y="2441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kimlik &amp; güvenlik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47104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+ OpenLDAP, JWT/OAuth2, 2FA (TOTP) ve çok rollü RBAC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2461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47104" y="31729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akışı motoru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547104" y="3502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jBPM/BPMN ile yönetilen, denetlenebilir ticket yaşam döngüsü ve SLA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9776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47104" y="39044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gözlemlenebilirlik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47104" y="4233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→ Kafka → OpenSearch ve OpenTelemetry trace / metrik / log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470916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47104" y="46360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 veri katmanı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547104" y="49651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JPA / Hibernate ve disiplinli Flyway migration yönetimi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544068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47104" y="53675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kod kalitesi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547104" y="5696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 sürümleme, Swagger, Javadoc, %85+ test ve katmanlı mimari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OpenTelemetry → OpenSearch Tercihi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Telemetriyi tek bir arayüzde toplamak için tüm metrik, trace ve logları OpenSearch'e yönlendirdim.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91440" cy="41605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60120" y="2304288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6888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3042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isterlere uygun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154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teknik isterler, OpenTelemetry verilerinin ve logların OpenSearch'e aktarılmasını istiyordu. Bu hat birebir uygulandı: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429768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1252728" y="4197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→ Kafka → Logstash → OpenSearch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482803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1252728" y="4727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Data Prepper → OpenSearch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535838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1252728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Dashboard'lar OpenSearch Dashboards'ta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309360" y="1920240"/>
            <a:ext cx="91440" cy="4160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6675120" y="230428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468880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0" y="23042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Maildeki isterden farkı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720840" y="31546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Maildeki listede ayrıca Grafana + Prometheus belirtilmişti.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telemetriyi OpenSearch'te topladığım için bu ikiliyi kullanmadım. İzleme ihtiyacı (metrik, trace, log) tek arayüzde karşılanıyor; yalnızca araç seçimi maildeki istekten ayrışıyor.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822960" y="5120640"/>
            <a:ext cx="2926080" cy="2926080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146304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Üretime yakın, full-stack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IT Service platformu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tabanlı mimari, jBPM iş akışı, çok rollü güvenlik, uçtan uca gözlemlenebilirlik ve web + mobil istemcilerle isterlerin tamamını karşılıyor.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983480"/>
            <a:ext cx="10058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Ukbe Taha Şahinkaya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Yazılım Mühendisliği · SAÜ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1063</Words>
  <Application>Microsoft Office PowerPoint</Application>
  <PresentationFormat>Geniş ekran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Sakarya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Management Ticket Yönetim Sistemi</dc:title>
  <dc:subject>IT Service Management Ticket Yönetim Sistemi</dc:subject>
  <dc:creator>Ukbe Taha Şahinkaya</dc:creator>
  <cp:lastModifiedBy>Ukbe Taha Şahinkaya</cp:lastModifiedBy>
  <cp:revision>3</cp:revision>
  <dcterms:created xsi:type="dcterms:W3CDTF">2026-06-06T10:14:03Z</dcterms:created>
  <dcterms:modified xsi:type="dcterms:W3CDTF">2026-06-06T13:48:08Z</dcterms:modified>
</cp:coreProperties>
</file>